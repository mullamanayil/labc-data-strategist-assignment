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356A65FF-EC9D-403D-A902-0965A12CFE84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9906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Copilot is not ready for broad go-live without label and access cleanup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E25C8D-5093-4906-A82F-9AC4FB470A7A}"/>
              </a:ext>
            </a:extLst>
          </p:cNvPr>
          <p:cNvSpPr>
            <a:spLocks noGrp="1"/>
          </p:cNvSpPr>
          <p:nvPr/>
        </p:nvSpPr>
        <p:spPr>
          <a:xfrm>
            <a:off x="400050" y="1485900"/>
            <a:ext cx="895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scan shows useful content is available, but current labels and sharing controls are not yet consistent enough for a low-risk launch.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8DB4EF-88C8-4A1F-988D-8288C8E7DD3C}"/>
              </a:ext>
            </a:extLst>
          </p:cNvPr>
          <p:cNvSpPr>
            <a:spLocks noGrp="1"/>
          </p:cNvSpPr>
          <p:nvPr/>
        </p:nvSpPr>
        <p:spPr>
          <a:xfrm>
            <a:off x="400050" y="2362200"/>
            <a:ext cx="2571750" cy="1428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77A83B-F604-4F60-AC1D-D822FF8A7FEA}"/>
              </a:ext>
            </a:extLst>
          </p:cNvPr>
          <p:cNvSpPr>
            <a:spLocks noGrp="1"/>
          </p:cNvSpPr>
          <p:nvPr/>
        </p:nvSpPr>
        <p:spPr>
          <a:xfrm>
            <a:off x="590550" y="25336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Sites scanned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6304A1-099B-4D0E-91AA-2770CCABAB89}"/>
              </a:ext>
            </a:extLst>
          </p:cNvPr>
          <p:cNvSpPr>
            <a:spLocks noGrp="1"/>
          </p:cNvSpPr>
          <p:nvPr/>
        </p:nvSpPr>
        <p:spPr>
          <a:xfrm>
            <a:off x="590550" y="283845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25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1540FB-5F5A-4369-9E4C-0C7BEFEA0C2C}"/>
              </a:ext>
            </a:extLst>
          </p:cNvPr>
          <p:cNvSpPr>
            <a:spLocks noGrp="1"/>
          </p:cNvSpPr>
          <p:nvPr/>
        </p:nvSpPr>
        <p:spPr>
          <a:xfrm>
            <a:off x="590550" y="33337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SharePoint and OneDrive locations reviewed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26359D-9928-49A1-8640-3D88F5E44C76}"/>
              </a:ext>
            </a:extLst>
          </p:cNvPr>
          <p:cNvSpPr>
            <a:spLocks noGrp="1"/>
          </p:cNvSpPr>
          <p:nvPr/>
        </p:nvSpPr>
        <p:spPr>
          <a:xfrm>
            <a:off x="3238500" y="2362200"/>
            <a:ext cx="2571750" cy="1428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7B4098-D1AC-4B7F-BA23-65D3DD7B51C5}"/>
              </a:ext>
            </a:extLst>
          </p:cNvPr>
          <p:cNvSpPr>
            <a:spLocks noGrp="1"/>
          </p:cNvSpPr>
          <p:nvPr/>
        </p:nvSpPr>
        <p:spPr>
          <a:xfrm>
            <a:off x="3429000" y="25336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Label coverage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B1273B-FB42-4DC7-9044-018163C7C996}"/>
              </a:ext>
            </a:extLst>
          </p:cNvPr>
          <p:cNvSpPr>
            <a:spLocks noGrp="1"/>
          </p:cNvSpPr>
          <p:nvPr/>
        </p:nvSpPr>
        <p:spPr>
          <a:xfrm>
            <a:off x="3429000" y="283845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F4E79"/>
                </a:solidFill>
              </a:defRPr>
            </a:pPr>
            <a:r>
              <a:rPr sz="3300" b="1">
                <a:solidFill>
                  <a:srgbClr val="1F4E79"/>
                </a:solidFill>
              </a:rPr>
              <a:t>76%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402A44-4011-41F5-A7AF-055C1233B853}"/>
              </a:ext>
            </a:extLst>
          </p:cNvPr>
          <p:cNvSpPr>
            <a:spLocks noGrp="1"/>
          </p:cNvSpPr>
          <p:nvPr/>
        </p:nvSpPr>
        <p:spPr>
          <a:xfrm>
            <a:off x="3429000" y="33337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Have one of the four Assembly labels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739409-0D52-4103-BC99-835588181AC0}"/>
              </a:ext>
            </a:extLst>
          </p:cNvPr>
          <p:cNvSpPr>
            <a:spLocks noGrp="1"/>
          </p:cNvSpPr>
          <p:nvPr/>
        </p:nvSpPr>
        <p:spPr>
          <a:xfrm>
            <a:off x="6076950" y="2362200"/>
            <a:ext cx="2571750" cy="1428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3C910E-BF15-495E-ACF7-9AA8465A653C}"/>
              </a:ext>
            </a:extLst>
          </p:cNvPr>
          <p:cNvSpPr>
            <a:spLocks noGrp="1"/>
          </p:cNvSpPr>
          <p:nvPr/>
        </p:nvSpPr>
        <p:spPr>
          <a:xfrm>
            <a:off x="6267450" y="25336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Label match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E49C7B-668E-413D-A521-044FCC0E143D}"/>
              </a:ext>
            </a:extLst>
          </p:cNvPr>
          <p:cNvSpPr>
            <a:spLocks noGrp="1"/>
          </p:cNvSpPr>
          <p:nvPr/>
        </p:nvSpPr>
        <p:spPr>
          <a:xfrm>
            <a:off x="6267450" y="283845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B7791F"/>
                </a:solidFill>
              </a:defRPr>
            </a:pPr>
            <a:r>
              <a:rPr sz="3300" b="1">
                <a:solidFill>
                  <a:srgbClr val="B7791F"/>
                </a:solidFill>
              </a:rPr>
              <a:t>52%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1F93EB-2E24-4A17-9159-376763A6FB9E}"/>
              </a:ext>
            </a:extLst>
          </p:cNvPr>
          <p:cNvSpPr>
            <a:spLocks noGrp="1"/>
          </p:cNvSpPr>
          <p:nvPr/>
        </p:nvSpPr>
        <p:spPr>
          <a:xfrm>
            <a:off x="6267450" y="33337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Current label matches recommendation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6DADCD-5A79-4867-AF09-8D1C07F8359F}"/>
              </a:ext>
            </a:extLst>
          </p:cNvPr>
          <p:cNvSpPr>
            <a:spLocks noGrp="1"/>
          </p:cNvSpPr>
          <p:nvPr/>
        </p:nvSpPr>
        <p:spPr>
          <a:xfrm>
            <a:off x="8915400" y="2362200"/>
            <a:ext cx="2571750" cy="1428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258B5E-28B6-47F5-A608-3F6A3E46C52A}"/>
              </a:ext>
            </a:extLst>
          </p:cNvPr>
          <p:cNvSpPr>
            <a:spLocks noGrp="1"/>
          </p:cNvSpPr>
          <p:nvPr/>
        </p:nvSpPr>
        <p:spPr>
          <a:xfrm>
            <a:off x="9105900" y="25336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Copilot safe now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1F7546-98FB-4DC6-B8A3-F36D68D02AC7}"/>
              </a:ext>
            </a:extLst>
          </p:cNvPr>
          <p:cNvSpPr>
            <a:spLocks noGrp="1"/>
          </p:cNvSpPr>
          <p:nvPr/>
        </p:nvSpPr>
        <p:spPr>
          <a:xfrm>
            <a:off x="9105900" y="283845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B91C1C"/>
                </a:solidFill>
              </a:defRPr>
            </a:pPr>
            <a:r>
              <a:rPr sz="3300" b="1">
                <a:solidFill>
                  <a:srgbClr val="B91C1C"/>
                </a:solidFill>
              </a:rPr>
              <a:t>24%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457FBC-5DA5-430C-9E73-5827BC34511F}"/>
              </a:ext>
            </a:extLst>
          </p:cNvPr>
          <p:cNvSpPr>
            <a:spLocks noGrp="1"/>
          </p:cNvSpPr>
          <p:nvPr/>
        </p:nvSpPr>
        <p:spPr>
          <a:xfrm>
            <a:off x="9105900" y="33337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Safe without remediation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C1AD27-ADFD-4ACD-9FE2-138246C4BAFD}"/>
              </a:ext>
            </a:extLst>
          </p:cNvPr>
          <p:cNvSpPr>
            <a:spLocks noGrp="1"/>
          </p:cNvSpPr>
          <p:nvPr/>
        </p:nvSpPr>
        <p:spPr>
          <a:xfrm>
            <a:off x="400050" y="4362450"/>
            <a:ext cx="11087100" cy="12573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9E5ED6-5C33-44BB-B6CF-B1AB0382CBAA}"/>
              </a:ext>
            </a:extLst>
          </p:cNvPr>
          <p:cNvSpPr>
            <a:spLocks noGrp="1"/>
          </p:cNvSpPr>
          <p:nvPr/>
        </p:nvSpPr>
        <p:spPr>
          <a:xfrm>
            <a:off x="647700" y="45720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What this means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A307F3-CCB0-42E1-BDDA-99962D0DFF88}"/>
              </a:ext>
            </a:extLst>
          </p:cNvPr>
          <p:cNvSpPr>
            <a:spLocks noGrp="1"/>
          </p:cNvSpPr>
          <p:nvPr/>
        </p:nvSpPr>
        <p:spPr>
          <a:xfrm>
            <a:off x="3009900" y="4591050"/>
            <a:ext cx="85725" cy="8572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ED6E5F-6DC7-4B83-BF14-654FAD282211}"/>
              </a:ext>
            </a:extLst>
          </p:cNvPr>
          <p:cNvSpPr>
            <a:spLocks noGrp="1"/>
          </p:cNvSpPr>
          <p:nvPr/>
        </p:nvSpPr>
        <p:spPr>
          <a:xfrm>
            <a:off x="3238500" y="4514850"/>
            <a:ext cx="7772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Most sites need label confirmation, access review, or sharing cleanup before Copilot go-live.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449683-602D-47A3-8425-E63C910C11E4}"/>
              </a:ext>
            </a:extLst>
          </p:cNvPr>
          <p:cNvSpPr>
            <a:spLocks noGrp="1"/>
          </p:cNvSpPr>
          <p:nvPr/>
        </p:nvSpPr>
        <p:spPr>
          <a:xfrm>
            <a:off x="3009900" y="4924425"/>
            <a:ext cx="85725" cy="8572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8671C3-7D43-48B9-98D5-C2D335F0331B}"/>
              </a:ext>
            </a:extLst>
          </p:cNvPr>
          <p:cNvSpPr>
            <a:spLocks noGrp="1"/>
          </p:cNvSpPr>
          <p:nvPr/>
        </p:nvSpPr>
        <p:spPr>
          <a:xfrm>
            <a:off x="3238500" y="4848225"/>
            <a:ext cx="7772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Restricted content should be excluded from Copilot entirely.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12180C-2E87-465F-BC37-FF4EEC8B45E0}"/>
              </a:ext>
            </a:extLst>
          </p:cNvPr>
          <p:cNvSpPr>
            <a:spLocks noGrp="1"/>
          </p:cNvSpPr>
          <p:nvPr/>
        </p:nvSpPr>
        <p:spPr>
          <a:xfrm>
            <a:off x="3009900" y="5257800"/>
            <a:ext cx="85725" cy="8572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AF464D-3509-4B56-AD4A-FF53ACBA4229}"/>
              </a:ext>
            </a:extLst>
          </p:cNvPr>
          <p:cNvSpPr>
            <a:spLocks noGrp="1"/>
          </p:cNvSpPr>
          <p:nvPr/>
        </p:nvSpPr>
        <p:spPr>
          <a:xfrm>
            <a:off x="3238500" y="5181600"/>
            <a:ext cx="7772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Confidential content needs audience and sharing controls verified before it is relied on by Copilot.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D3C80D-F17B-446E-95BB-F585243CAD64}"/>
              </a:ext>
            </a:extLst>
          </p:cNvPr>
          <p:cNvSpPr>
            <a:spLocks noGrp="1"/>
          </p:cNvSpPr>
          <p:nvPr/>
        </p:nvSpPr>
        <p:spPr>
          <a:xfrm>
            <a:off x="11468100" y="63436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1948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0E124D8-2102-457F-BB25-3184B2ED6DEC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Use the Assembly labels to decide what Copilot can reach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281A58-6004-4CC9-8B97-39613A61CD1C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11087100" cy="3810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E5AACF-4345-4BB3-8CCC-DE4D59052E66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Label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3AC309-470A-4889-8F56-0F0AC1219135}"/>
              </a:ext>
            </a:extLst>
          </p:cNvPr>
          <p:cNvSpPr>
            <a:spLocks noGrp="1"/>
          </p:cNvSpPr>
          <p:nvPr/>
        </p:nvSpPr>
        <p:spPr>
          <a:xfrm>
            <a:off x="2705100" y="17526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Copilot scope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AEB3A1-E8FE-4407-B359-0267002207EA}"/>
              </a:ext>
            </a:extLst>
          </p:cNvPr>
          <p:cNvSpPr>
            <a:spLocks noGrp="1"/>
          </p:cNvSpPr>
          <p:nvPr/>
        </p:nvSpPr>
        <p:spPr>
          <a:xfrm>
            <a:off x="6076950" y="1752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Go-live rule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4C8CFA-9BC7-4A8D-9EE0-FB0817CC7DCC}"/>
              </a:ext>
            </a:extLst>
          </p:cNvPr>
          <p:cNvSpPr>
            <a:spLocks noGrp="1"/>
          </p:cNvSpPr>
          <p:nvPr/>
        </p:nvSpPr>
        <p:spPr>
          <a:xfrm>
            <a:off x="400050" y="2076450"/>
            <a:ext cx="11087100" cy="704850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38AF01-7E74-4789-AE67-DED4E589FAF6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Public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3E3DF7-D0D6-4A1E-B82C-2443C88A14A6}"/>
              </a:ext>
            </a:extLst>
          </p:cNvPr>
          <p:cNvSpPr>
            <a:spLocks noGrp="1"/>
          </p:cNvSpPr>
          <p:nvPr/>
        </p:nvSpPr>
        <p:spPr>
          <a:xfrm>
            <a:off x="2705100" y="22574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F7D4A"/>
                </a:solidFill>
              </a:defRPr>
            </a:pPr>
            <a:r>
              <a:rPr sz="1650" b="1">
                <a:solidFill>
                  <a:srgbClr val="2F7D4A"/>
                </a:solidFill>
              </a:rPr>
              <a:t>In scope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26629D-FAEE-44CD-A439-6FFE07708DDC}"/>
              </a:ext>
            </a:extLst>
          </p:cNvPr>
          <p:cNvSpPr>
            <a:spLocks noGrp="1"/>
          </p:cNvSpPr>
          <p:nvPr/>
        </p:nvSpPr>
        <p:spPr>
          <a:xfrm>
            <a:off x="6076950" y="21907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Approved public content. Copilot can quote freely.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66ED84-AE7D-4FD0-8E87-E74E526C2FC3}"/>
              </a:ext>
            </a:extLst>
          </p:cNvPr>
          <p:cNvSpPr>
            <a:spLocks noGrp="1"/>
          </p:cNvSpPr>
          <p:nvPr/>
        </p:nvSpPr>
        <p:spPr>
          <a:xfrm>
            <a:off x="400050" y="2952750"/>
            <a:ext cx="110871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1DD7A1-1AE2-4EBC-B20E-7F706C6BEA88}"/>
              </a:ext>
            </a:extLst>
          </p:cNvPr>
          <p:cNvSpPr>
            <a:spLocks noGrp="1"/>
          </p:cNvSpPr>
          <p:nvPr/>
        </p:nvSpPr>
        <p:spPr>
          <a:xfrm>
            <a:off x="609600" y="313372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Internal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B2B07D-35CF-4D50-AC51-82FE168B76A3}"/>
              </a:ext>
            </a:extLst>
          </p:cNvPr>
          <p:cNvSpPr>
            <a:spLocks noGrp="1"/>
          </p:cNvSpPr>
          <p:nvPr/>
        </p:nvSpPr>
        <p:spPr>
          <a:xfrm>
            <a:off x="2705100" y="31337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F7D4A"/>
                </a:solidFill>
              </a:defRPr>
            </a:pPr>
            <a:r>
              <a:rPr sz="1650" b="1">
                <a:solidFill>
                  <a:srgbClr val="2F7D4A"/>
                </a:solidFill>
              </a:rPr>
              <a:t>In scope for Assembly users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73D29F-EED5-41F5-8225-AF4AED47B8BC}"/>
              </a:ext>
            </a:extLst>
          </p:cNvPr>
          <p:cNvSpPr>
            <a:spLocks noGrp="1"/>
          </p:cNvSpPr>
          <p:nvPr/>
        </p:nvSpPr>
        <p:spPr>
          <a:xfrm>
            <a:off x="6076950" y="30670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Routine Assembly work. Safe only when no sensitive indicators are present.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6E776C-602C-4063-BDC5-6C25AAA5C2FC}"/>
              </a:ext>
            </a:extLst>
          </p:cNvPr>
          <p:cNvSpPr>
            <a:spLocks noGrp="1"/>
          </p:cNvSpPr>
          <p:nvPr/>
        </p:nvSpPr>
        <p:spPr>
          <a:xfrm>
            <a:off x="400050" y="3829050"/>
            <a:ext cx="11087100" cy="704850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C47BE8-B84C-4841-BB25-41351DB5B23C}"/>
              </a:ext>
            </a:extLst>
          </p:cNvPr>
          <p:cNvSpPr>
            <a:spLocks noGrp="1"/>
          </p:cNvSpPr>
          <p:nvPr/>
        </p:nvSpPr>
        <p:spPr>
          <a:xfrm>
            <a:off x="609600" y="401002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Confidential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8C0842-5460-4079-990F-FD56DA710762}"/>
              </a:ext>
            </a:extLst>
          </p:cNvPr>
          <p:cNvSpPr>
            <a:spLocks noGrp="1"/>
          </p:cNvSpPr>
          <p:nvPr/>
        </p:nvSpPr>
        <p:spPr>
          <a:xfrm>
            <a:off x="2705100" y="40100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B7791F"/>
                </a:solidFill>
              </a:defRPr>
            </a:pPr>
            <a:r>
              <a:rPr sz="1650" b="1">
                <a:solidFill>
                  <a:srgbClr val="B7791F"/>
                </a:solidFill>
              </a:rPr>
              <a:t>Limited scope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9D7EF4-04A6-47FE-A51D-37CD0AAEF8E0}"/>
              </a:ext>
            </a:extLst>
          </p:cNvPr>
          <p:cNvSpPr>
            <a:spLocks noGrp="1"/>
          </p:cNvSpPr>
          <p:nvPr/>
        </p:nvSpPr>
        <p:spPr>
          <a:xfrm>
            <a:off x="6076950" y="39433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Use only for people who already have access. Verify audience, guest access, and anonymous links.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FEDE3E-5031-409F-8D59-54E6676CAF0A}"/>
              </a:ext>
            </a:extLst>
          </p:cNvPr>
          <p:cNvSpPr>
            <a:spLocks noGrp="1"/>
          </p:cNvSpPr>
          <p:nvPr/>
        </p:nvSpPr>
        <p:spPr>
          <a:xfrm>
            <a:off x="400050" y="4705350"/>
            <a:ext cx="110871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A414A1-A90F-4A6C-AA8B-96BA03D56722}"/>
              </a:ext>
            </a:extLst>
          </p:cNvPr>
          <p:cNvSpPr>
            <a:spLocks noGrp="1"/>
          </p:cNvSpPr>
          <p:nvPr/>
        </p:nvSpPr>
        <p:spPr>
          <a:xfrm>
            <a:off x="609600" y="488632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B91C1C"/>
                </a:solidFill>
              </a:defRPr>
            </a:pPr>
            <a:r>
              <a:rPr sz="1800" b="1">
                <a:solidFill>
                  <a:srgbClr val="B91C1C"/>
                </a:solidFill>
              </a:rPr>
              <a:t>Restricted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5BB6D9-67D1-4590-B225-2944CCA30E49}"/>
              </a:ext>
            </a:extLst>
          </p:cNvPr>
          <p:cNvSpPr>
            <a:spLocks noGrp="1"/>
          </p:cNvSpPr>
          <p:nvPr/>
        </p:nvSpPr>
        <p:spPr>
          <a:xfrm>
            <a:off x="2705100" y="48863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B91C1C"/>
                </a:solidFill>
              </a:defRPr>
            </a:pPr>
            <a:r>
              <a:rPr sz="1650" b="1">
                <a:solidFill>
                  <a:srgbClr val="B91C1C"/>
                </a:solidFill>
              </a:rPr>
              <a:t>Excluded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0057B6-A42A-4AE3-AFFC-B232FF804CF6}"/>
              </a:ext>
            </a:extLst>
          </p:cNvPr>
          <p:cNvSpPr>
            <a:spLocks noGrp="1"/>
          </p:cNvSpPr>
          <p:nvPr/>
        </p:nvSpPr>
        <p:spPr>
          <a:xfrm>
            <a:off x="6076950" y="48196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No Copilot access, summary, quote, or reference. Named individuals only.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B77A95-47BF-4521-AE79-7E18508B8648}"/>
              </a:ext>
            </a:extLst>
          </p:cNvPr>
          <p:cNvSpPr>
            <a:spLocks noGrp="1"/>
          </p:cNvSpPr>
          <p:nvPr/>
        </p:nvSpPr>
        <p:spPr>
          <a:xfrm>
            <a:off x="400050" y="5867400"/>
            <a:ext cx="1009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Descriptors apply only to Confidential and Restricted content: People, Proceedings, Legal, Commercial, Financial, Audit, Security, and Member Support.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0F75DB-CB66-4DE5-97BF-D2EFEE34BB99}"/>
              </a:ext>
            </a:extLst>
          </p:cNvPr>
          <p:cNvSpPr>
            <a:spLocks noGrp="1"/>
          </p:cNvSpPr>
          <p:nvPr/>
        </p:nvSpPr>
        <p:spPr>
          <a:xfrm>
            <a:off x="11468100" y="63436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67923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DE24DC5-EEBC-4103-8F6E-9DAB6683C814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0287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Recommended path: remediate high-risk areas first, then expand Copilot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31E091-3B23-428A-9B60-A4D2D8CDB102}"/>
              </a:ext>
            </a:extLst>
          </p:cNvPr>
          <p:cNvSpPr>
            <a:spLocks noGrp="1"/>
          </p:cNvSpPr>
          <p:nvPr/>
        </p:nvSpPr>
        <p:spPr>
          <a:xfrm>
            <a:off x="400050" y="154305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555"/>
                </a:solidFill>
              </a:defRPr>
            </a:pPr>
            <a:r>
              <a:rPr sz="1575" b="0" dirty="0">
                <a:solidFill>
                  <a:srgbClr val="555555"/>
                </a:solidFill>
              </a:rPr>
              <a:t>This keeps the rollout useful while protecting privacy, trust, and need-to-know access.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EB8DB0-5732-44E0-9E90-15FB970BA811}"/>
              </a:ext>
            </a:extLst>
          </p:cNvPr>
          <p:cNvSpPr>
            <a:spLocks noGrp="1"/>
          </p:cNvSpPr>
          <p:nvPr/>
        </p:nvSpPr>
        <p:spPr>
          <a:xfrm>
            <a:off x="400050" y="2152650"/>
            <a:ext cx="2476500" cy="2000250"/>
          </a:xfrm>
          <a:prstGeom prst="rect">
            <a:avLst/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B8B2CD-0356-419F-8599-6A6D820BA150}"/>
              </a:ext>
            </a:extLst>
          </p:cNvPr>
          <p:cNvSpPr>
            <a:spLocks noGrp="1"/>
          </p:cNvSpPr>
          <p:nvPr/>
        </p:nvSpPr>
        <p:spPr>
          <a:xfrm>
            <a:off x="590550" y="23431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C6422B"/>
                </a:solidFill>
              </a:defRPr>
            </a:pPr>
            <a:r>
              <a:rPr sz="2550" b="1">
                <a:solidFill>
                  <a:srgbClr val="C6422B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B86361-7D4D-42A6-AC3E-B94FD82756FD}"/>
              </a:ext>
            </a:extLst>
          </p:cNvPr>
          <p:cNvSpPr>
            <a:spLocks noGrp="1"/>
          </p:cNvSpPr>
          <p:nvPr/>
        </p:nvSpPr>
        <p:spPr>
          <a:xfrm>
            <a:off x="590550" y="28956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Protect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CDE2B9-5AE9-4180-90C0-2A4DE67415F5}"/>
              </a:ext>
            </a:extLst>
          </p:cNvPr>
          <p:cNvSpPr>
            <a:spLocks noGrp="1"/>
          </p:cNvSpPr>
          <p:nvPr/>
        </p:nvSpPr>
        <p:spPr>
          <a:xfrm>
            <a:off x="590550" y="3371850"/>
            <a:ext cx="200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Exclude Restricted content and fix high-risk Confidential sites first.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C1152E-9318-4590-9B98-82A88B9B4E95}"/>
              </a:ext>
            </a:extLst>
          </p:cNvPr>
          <p:cNvSpPr>
            <a:spLocks noGrp="1"/>
          </p:cNvSpPr>
          <p:nvPr/>
        </p:nvSpPr>
        <p:spPr>
          <a:xfrm>
            <a:off x="3238500" y="2152650"/>
            <a:ext cx="2476500" cy="2000250"/>
          </a:xfrm>
          <a:prstGeom prst="rect">
            <a:avLst/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9BDD2B-3E69-4D22-BED4-CA500E6404B9}"/>
              </a:ext>
            </a:extLst>
          </p:cNvPr>
          <p:cNvSpPr>
            <a:spLocks noGrp="1"/>
          </p:cNvSpPr>
          <p:nvPr/>
        </p:nvSpPr>
        <p:spPr>
          <a:xfrm>
            <a:off x="3429000" y="23431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C6422B"/>
                </a:solidFill>
              </a:defRPr>
            </a:pPr>
            <a:r>
              <a:rPr sz="2550" b="1">
                <a:solidFill>
                  <a:srgbClr val="C6422B"/>
                </a:solidFill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C64CF4-D05F-4BAB-9B23-B04FB90173CD}"/>
              </a:ext>
            </a:extLst>
          </p:cNvPr>
          <p:cNvSpPr>
            <a:spLocks noGrp="1"/>
          </p:cNvSpPr>
          <p:nvPr/>
        </p:nvSpPr>
        <p:spPr>
          <a:xfrm>
            <a:off x="3429000" y="28956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Clean up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E88A82-871E-4D8C-BE0A-D1D065C2EB19}"/>
              </a:ext>
            </a:extLst>
          </p:cNvPr>
          <p:cNvSpPr>
            <a:spLocks noGrp="1"/>
          </p:cNvSpPr>
          <p:nvPr/>
        </p:nvSpPr>
        <p:spPr>
          <a:xfrm>
            <a:off x="3429000" y="3371850"/>
            <a:ext cx="200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Remove inappropriate anonymous links and review external guest access.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75B3F-A947-46F8-BE0A-765B87C2DD8E}"/>
              </a:ext>
            </a:extLst>
          </p:cNvPr>
          <p:cNvSpPr>
            <a:spLocks noGrp="1"/>
          </p:cNvSpPr>
          <p:nvPr/>
        </p:nvSpPr>
        <p:spPr>
          <a:xfrm>
            <a:off x="6076950" y="2152650"/>
            <a:ext cx="2476500" cy="2000250"/>
          </a:xfrm>
          <a:prstGeom prst="rect">
            <a:avLst/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E02B9F-AA52-4ACC-8992-67276ACE6878}"/>
              </a:ext>
            </a:extLst>
          </p:cNvPr>
          <p:cNvSpPr>
            <a:spLocks noGrp="1"/>
          </p:cNvSpPr>
          <p:nvPr/>
        </p:nvSpPr>
        <p:spPr>
          <a:xfrm>
            <a:off x="6267450" y="23431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C6422B"/>
                </a:solidFill>
              </a:defRPr>
            </a:pPr>
            <a:r>
              <a:rPr sz="2550" b="1">
                <a:solidFill>
                  <a:srgbClr val="C6422B"/>
                </a:solidFill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A94A85-CA3E-4D5B-88BE-D2AA172506C7}"/>
              </a:ext>
            </a:extLst>
          </p:cNvPr>
          <p:cNvSpPr>
            <a:spLocks noGrp="1"/>
          </p:cNvSpPr>
          <p:nvPr/>
        </p:nvSpPr>
        <p:spPr>
          <a:xfrm>
            <a:off x="6267450" y="28956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Confirm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567AD1-6B7C-4793-95B5-FB45D2E8DF44}"/>
              </a:ext>
            </a:extLst>
          </p:cNvPr>
          <p:cNvSpPr>
            <a:spLocks noGrp="1"/>
          </p:cNvSpPr>
          <p:nvPr/>
        </p:nvSpPr>
        <p:spPr>
          <a:xfrm>
            <a:off x="6267450" y="3371850"/>
            <a:ext cx="200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Validate labels with business owners before broad Copilot enablement.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34A781-8974-4470-A378-614204686B7C}"/>
              </a:ext>
            </a:extLst>
          </p:cNvPr>
          <p:cNvSpPr>
            <a:spLocks noGrp="1"/>
          </p:cNvSpPr>
          <p:nvPr/>
        </p:nvSpPr>
        <p:spPr>
          <a:xfrm>
            <a:off x="8915400" y="2152650"/>
            <a:ext cx="2476500" cy="2000250"/>
          </a:xfrm>
          <a:prstGeom prst="rect">
            <a:avLst/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E07FDA-B7EB-46C4-9C49-F49797A81D22}"/>
              </a:ext>
            </a:extLst>
          </p:cNvPr>
          <p:cNvSpPr>
            <a:spLocks noGrp="1"/>
          </p:cNvSpPr>
          <p:nvPr/>
        </p:nvSpPr>
        <p:spPr>
          <a:xfrm>
            <a:off x="9105900" y="23431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C6422B"/>
                </a:solidFill>
              </a:defRPr>
            </a:pPr>
            <a:r>
              <a:rPr sz="2550" b="1">
                <a:solidFill>
                  <a:srgbClr val="C6422B"/>
                </a:solidFill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859A1C-D754-47C2-AB23-C5F152F2288C}"/>
              </a:ext>
            </a:extLst>
          </p:cNvPr>
          <p:cNvSpPr>
            <a:spLocks noGrp="1"/>
          </p:cNvSpPr>
          <p:nvPr/>
        </p:nvSpPr>
        <p:spPr>
          <a:xfrm>
            <a:off x="9105900" y="28956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Monitor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41243C-E63B-4A19-A77F-A306729AD7FA}"/>
              </a:ext>
            </a:extLst>
          </p:cNvPr>
          <p:cNvSpPr>
            <a:spLocks noGrp="1"/>
          </p:cNvSpPr>
          <p:nvPr/>
        </p:nvSpPr>
        <p:spPr>
          <a:xfrm>
            <a:off x="9105900" y="3371850"/>
            <a:ext cx="200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Use audit logs and a privacy/security review path for exceptions.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8C8A2A-F508-4F47-BA80-E31F6AC8063D}"/>
              </a:ext>
            </a:extLst>
          </p:cNvPr>
          <p:cNvSpPr>
            <a:spLocks noGrp="1"/>
          </p:cNvSpPr>
          <p:nvPr/>
        </p:nvSpPr>
        <p:spPr>
          <a:xfrm>
            <a:off x="400050" y="48958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111"/>
                </a:solidFill>
              </a:defRPr>
            </a:pPr>
            <a:r>
              <a:rPr sz="1575" b="1" dirty="0">
                <a:solidFill>
                  <a:srgbClr val="111111"/>
                </a:solidFill>
              </a:rPr>
              <a:t>Decision requested: approve a staged rollout after Restricted exclusions and high-risk Confidential cleanup are complete.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1FA002-32ED-43B1-9205-FCC1E8C2709B}"/>
              </a:ext>
            </a:extLst>
          </p:cNvPr>
          <p:cNvSpPr>
            <a:spLocks noGrp="1"/>
          </p:cNvSpPr>
          <p:nvPr/>
        </p:nvSpPr>
        <p:spPr>
          <a:xfrm>
            <a:off x="11468100" y="63436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4967295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</Words>
  <Application>Microsoft Office PowerPoint</Application>
  <DocSecurity>0</DocSecurity>
  <PresentationFormat>Widescreen</PresentationFormat>
  <Paragraphs>53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Calibri</vt:lpstr>
      <vt:lpstr>ChatGPT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shahna mulla</cp:lastModifiedBy>
  <cp:revision>1</cp:revision>
  <dcterms:created xsi:type="dcterms:W3CDTF">2026-07-06T10:48:56Z</dcterms:created>
  <dcterms:modified xsi:type="dcterms:W3CDTF">2026-07-06T11:03:07Z</dcterms:modified>
</cp:coreProperties>
</file>